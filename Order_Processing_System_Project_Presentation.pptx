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8B81"/>
          </a:solidFill>
          <a:ln w="12700">
            <a:solidFill>
              <a:srgbClr val="2A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658368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200" b="1">
                <a:solidFill>
                  <a:srgbClr val="122F4D"/>
                </a:solidFill>
                <a:latin typeface="Aptos"/>
              </a:rPr>
              <a:t>ORDER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27632"/>
            <a:ext cx="658368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200" b="1">
                <a:solidFill>
                  <a:srgbClr val="2A8B81"/>
                </a:solidFill>
                <a:latin typeface="Aptos"/>
              </a:rPr>
              <a:t>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423160"/>
            <a:ext cx="566928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27303A"/>
                </a:solidFill>
                <a:latin typeface="Aptos"/>
              </a:rPr>
              <a:t>Concurrent order handling with inventory locking,
retries and a live operations 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5160" y="960120"/>
            <a:ext cx="4343400" cy="434340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280160"/>
            <a:ext cx="34747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22F4D"/>
                </a:solidFill>
                <a:latin typeface="Aptos"/>
              </a:rPr>
              <a:t>Operations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828800"/>
            <a:ext cx="16002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4927" y="1938528"/>
            <a:ext cx="1371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77380"/>
                </a:solidFill>
                <a:latin typeface="Aptos"/>
              </a:rPr>
              <a:t>Total 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4927" y="2139696"/>
            <a:ext cx="1371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900" b="1">
                <a:solidFill>
                  <a:srgbClr val="256391"/>
                </a:solidFill>
                <a:latin typeface="Aptos"/>
              </a:rPr>
              <a:t>128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1828800"/>
            <a:ext cx="16002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99448" y="1938528"/>
            <a:ext cx="1371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77380"/>
                </a:solidFill>
                <a:latin typeface="Aptos"/>
              </a:rPr>
              <a:t>Completed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9448" y="2139696"/>
            <a:ext cx="1371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900" b="1">
                <a:solidFill>
                  <a:srgbClr val="419B66"/>
                </a:solidFill>
                <a:latin typeface="Aptos"/>
              </a:rPr>
              <a:t>112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788920"/>
            <a:ext cx="16002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4927" y="2898648"/>
            <a:ext cx="1371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77380"/>
                </a:solidFill>
                <a:latin typeface="Aptos"/>
              </a:rPr>
              <a:t>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4927" y="3099815"/>
            <a:ext cx="1371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900" b="1">
                <a:solidFill>
                  <a:srgbClr val="2A8B81"/>
                </a:solidFill>
                <a:latin typeface="Aptos"/>
              </a:rPr>
              <a:t>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2788920"/>
            <a:ext cx="16002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9448" y="2898648"/>
            <a:ext cx="1371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77380"/>
                </a:solidFill>
                <a:latin typeface="Aptos"/>
              </a:rPr>
              <a:t>Failed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3099815"/>
            <a:ext cx="1371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900" b="1">
                <a:solidFill>
                  <a:srgbClr val="C44D52"/>
                </a:solidFill>
                <a:latin typeface="Aptos"/>
              </a:rPr>
              <a:t>8</a:t>
            </a:r>
          </a:p>
        </p:txBody>
      </p:sp>
      <p:sp>
        <p:nvSpPr>
          <p:cNvPr id="21" name="Oval 20"/>
          <p:cNvSpPr/>
          <p:nvPr/>
        </p:nvSpPr>
        <p:spPr>
          <a:xfrm>
            <a:off x="7360920" y="3154680"/>
            <a:ext cx="502920" cy="502920"/>
          </a:xfrm>
          <a:prstGeom prst="ellipse">
            <a:avLst/>
          </a:prstGeom>
          <a:solidFill>
            <a:srgbClr val="256391"/>
          </a:solidFill>
          <a:ln>
            <a:solidFill>
              <a:srgbClr val="256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3273552"/>
            <a:ext cx="5029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1192" y="3730752"/>
            <a:ext cx="731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27303A"/>
                </a:solidFill>
                <a:latin typeface="Aptos"/>
              </a:rPr>
              <a:t>Order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63840" y="3401568"/>
            <a:ext cx="429768" cy="0"/>
          </a:xfrm>
          <a:prstGeom prst="line">
            <a:avLst/>
          </a:prstGeom>
          <a:ln w="2540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302752" y="3154680"/>
            <a:ext cx="502920" cy="502920"/>
          </a:xfrm>
          <a:prstGeom prst="ellipse">
            <a:avLst/>
          </a:prstGeom>
          <a:solidFill>
            <a:srgbClr val="2A8B81"/>
          </a:solidFill>
          <a:ln>
            <a:solidFill>
              <a:srgbClr val="2A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2" y="3273552"/>
            <a:ext cx="5029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4" y="3730752"/>
            <a:ext cx="731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27303A"/>
                </a:solidFill>
                <a:latin typeface="Aptos"/>
              </a:rPr>
              <a:t>Process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805672" y="3401568"/>
            <a:ext cx="429768" cy="0"/>
          </a:xfrm>
          <a:prstGeom prst="line">
            <a:avLst/>
          </a:prstGeom>
          <a:ln w="2540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244584" y="3154680"/>
            <a:ext cx="502920" cy="502920"/>
          </a:xfrm>
          <a:prstGeom prst="ellipse">
            <a:avLst/>
          </a:prstGeom>
          <a:solidFill>
            <a:srgbClr val="419B66"/>
          </a:solidFill>
          <a:ln>
            <a:solidFill>
              <a:srgbClr val="419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44584" y="3273552"/>
            <a:ext cx="5029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34856" y="3730752"/>
            <a:ext cx="731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27303A"/>
                </a:solidFill>
                <a:latin typeface="Aptos"/>
              </a:rPr>
              <a:t>Stock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747504" y="3401568"/>
            <a:ext cx="429768" cy="0"/>
          </a:xfrm>
          <a:prstGeom prst="line">
            <a:avLst/>
          </a:prstGeom>
          <a:ln w="2540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0186416" y="3154680"/>
            <a:ext cx="502920" cy="502920"/>
          </a:xfrm>
          <a:prstGeom prst="ellipse">
            <a:avLst/>
          </a:prstGeom>
          <a:solidFill>
            <a:srgbClr val="122F4D"/>
          </a:solidFill>
          <a:ln>
            <a:solidFill>
              <a:srgbClr val="122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86416" y="3273552"/>
            <a:ext cx="5029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76688" y="3730752"/>
            <a:ext cx="7315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27303A"/>
                </a:solidFill>
                <a:latin typeface="Aptos"/>
              </a:rPr>
              <a:t>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" y="5440680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677380"/>
                </a:solidFill>
                <a:latin typeface="Aptos"/>
              </a:rPr>
              <a:t>Project Presentation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" y="5806440"/>
            <a:ext cx="45720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27303A"/>
                </a:solidFill>
                <a:latin typeface="Aptos"/>
              </a:rPr>
              <a:t>Team TechNova  •  Acentra Health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77380"/>
                </a:solidFill>
                <a:latin typeface="Aptos"/>
              </a:rPr>
              <a:t>Order Processing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6519672"/>
            <a:ext cx="2514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77380"/>
                </a:solidFill>
                <a:latin typeface="Aptos"/>
              </a:rPr>
              <a:t>Team TechNova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22F4D"/>
                </a:solidFill>
                <a:latin typeface="Aptos"/>
              </a:rPr>
              <a:t>Problem &amp; 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515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77380"/>
                </a:solidFill>
                <a:latin typeface="Aptos"/>
              </a:rPr>
              <a:t>What the system is designed to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38912"/>
            <a:ext cx="457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677380"/>
                </a:solidFill>
                <a:latin typeface="Aptos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34440"/>
            <a:ext cx="10972800" cy="0"/>
          </a:xfrm>
          <a:prstGeom prst="line">
            <a:avLst/>
          </a:prstGeom>
          <a:ln w="1270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600200"/>
            <a:ext cx="5212080" cy="434340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F5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122F4D"/>
                </a:solidFill>
                <a:latin typeface="Apto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480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64"/>
              </a:spcAft>
              <a:defRPr sz="1500">
                <a:solidFill>
                  <a:srgbClr val="27303A"/>
                </a:solidFill>
                <a:latin typeface="Aptos"/>
              </a:defRPr>
            </a:pPr>
            <a:r>
              <a:t>•  Orders can arrive at the same time and need safe processing.</a:t>
            </a:r>
          </a:p>
          <a:p>
            <a:pPr>
              <a:spcAft>
                <a:spcPts val="864"/>
              </a:spcAft>
              <a:defRPr sz="1500">
                <a:solidFill>
                  <a:srgbClr val="27303A"/>
                </a:solidFill>
                <a:latin typeface="Aptos"/>
              </a:defRPr>
            </a:pPr>
            <a:r>
              <a:t>•  Inventory must not become negative when multiple orders use the same stock.</a:t>
            </a:r>
          </a:p>
          <a:p>
            <a:pPr>
              <a:spcAft>
                <a:spcPts val="864"/>
              </a:spcAft>
              <a:defRPr sz="1500">
                <a:solidFill>
                  <a:srgbClr val="27303A"/>
                </a:solidFill>
                <a:latin typeface="Aptos"/>
              </a:defRPr>
            </a:pPr>
            <a:r>
              <a:t>•  Temporary failures need controlled retries instead of manual intervention.</a:t>
            </a:r>
          </a:p>
          <a:p>
            <a:pPr>
              <a:spcAft>
                <a:spcPts val="864"/>
              </a:spcAft>
              <a:defRPr sz="1500">
                <a:solidFill>
                  <a:srgbClr val="27303A"/>
                </a:solidFill>
                <a:latin typeface="Aptos"/>
              </a:defRPr>
            </a:pPr>
            <a:r>
              <a:t>•  Operations teams need a clear view of order and inventory status.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00200"/>
            <a:ext cx="53492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21945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2A8B81"/>
                </a:solidFill>
                <a:latin typeface="Aptos"/>
              </a:rPr>
              <a:t>Our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3172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64"/>
              </a:spcAft>
              <a:defRPr sz="1500">
                <a:solidFill>
                  <a:srgbClr val="27303A"/>
                </a:solidFill>
                <a:latin typeface="Aptos"/>
              </a:defRPr>
            </a:pPr>
            <a:r>
              <a:t>•  Accept an order quickly and process it in the background.</a:t>
            </a:r>
          </a:p>
          <a:p>
            <a:pPr>
              <a:spcAft>
                <a:spcPts val="864"/>
              </a:spcAft>
              <a:defRPr sz="1500">
                <a:solidFill>
                  <a:srgbClr val="27303A"/>
                </a:solidFill>
                <a:latin typeface="Aptos"/>
              </a:defRPr>
            </a:pPr>
            <a:r>
              <a:t>•  Use database row locking while reserving stock.</a:t>
            </a:r>
          </a:p>
          <a:p>
            <a:pPr>
              <a:spcAft>
                <a:spcPts val="864"/>
              </a:spcAft>
              <a:defRPr sz="1500">
                <a:solidFill>
                  <a:srgbClr val="27303A"/>
                </a:solidFill>
                <a:latin typeface="Aptos"/>
              </a:defRPr>
            </a:pPr>
            <a:r>
              <a:t>•  Retry failed orders up to 3 times.</a:t>
            </a:r>
          </a:p>
          <a:p>
            <a:pPr>
              <a:spcAft>
                <a:spcPts val="864"/>
              </a:spcAft>
              <a:defRPr sz="1500">
                <a:solidFill>
                  <a:srgbClr val="27303A"/>
                </a:solidFill>
                <a:latin typeface="Aptos"/>
              </a:defRPr>
            </a:pPr>
            <a:r>
              <a:t>•  Move permanently failed orders to a Dead-Letter Queue.</a:t>
            </a:r>
          </a:p>
          <a:p>
            <a:pPr>
              <a:spcAft>
                <a:spcPts val="864"/>
              </a:spcAft>
              <a:defRPr sz="1500">
                <a:solidFill>
                  <a:srgbClr val="27303A"/>
                </a:solidFill>
                <a:latin typeface="Aptos"/>
              </a:defRPr>
            </a:pPr>
            <a:r>
              <a:t>•  Push live updates to the dashboard using WebSocket/STOMP.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77380"/>
                </a:solidFill>
                <a:latin typeface="Aptos"/>
              </a:rPr>
              <a:t>Order Processing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6519672"/>
            <a:ext cx="2514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77380"/>
                </a:solidFill>
                <a:latin typeface="Aptos"/>
              </a:rPr>
              <a:t>Team TechNova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22F4D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515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77380"/>
                </a:solidFill>
                <a:latin typeface="Aptos"/>
              </a:rPr>
              <a:t>Frontend, backend, database and real-time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38912"/>
            <a:ext cx="457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677380"/>
                </a:solidFill>
                <a:latin typeface="Aptos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34440"/>
            <a:ext cx="10972800" cy="0"/>
          </a:xfrm>
          <a:prstGeom prst="line">
            <a:avLst/>
          </a:prstGeom>
          <a:ln w="1270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1572768"/>
            <a:ext cx="107442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73936"/>
            <a:ext cx="1371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56391"/>
                </a:solidFill>
                <a:latin typeface="Aptos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746504"/>
            <a:ext cx="84124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27303A"/>
                </a:solidFill>
                <a:latin typeface="Aptos"/>
              </a:rPr>
              <a:t>React + Vite  •  Dashboard  •  Order Form  •  Inventory  •  DLQ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0744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971800"/>
            <a:ext cx="1371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A8B81"/>
                </a:solidFill>
                <a:latin typeface="Aptos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880360"/>
            <a:ext cx="841248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27303A"/>
                </a:solidFill>
                <a:latin typeface="Aptos"/>
              </a:rPr>
              <a:t>Spring Boot 3.2.5  •  REST APIs  •  Async Thread Pool  •  JPA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3218688"/>
            <a:ext cx="45720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77380"/>
                </a:solidFill>
                <a:latin typeface="Aptos"/>
              </a:rPr>
              <a:t>WebSocket / STOMP notifications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60520"/>
            <a:ext cx="51663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425696"/>
            <a:ext cx="914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122F4D"/>
                </a:solidFill>
                <a:latin typeface="Aptos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4361688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27303A"/>
                </a:solidFill>
                <a:latin typeface="Aptos"/>
              </a:rPr>
              <a:t>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709160"/>
            <a:ext cx="35661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677380"/>
                </a:solidFill>
                <a:latin typeface="Aptos"/>
              </a:rPr>
              <a:t>Orders • Inventory • Dead-letter orders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160520"/>
            <a:ext cx="5303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425696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DE9E37"/>
                </a:solidFill>
                <a:latin typeface="Aptos"/>
              </a:rPr>
              <a:t>CONCURRENCY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4361688"/>
            <a:ext cx="3017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27303A"/>
                </a:solidFill>
                <a:latin typeface="Aptos"/>
              </a:rPr>
              <a:t>10 core / 20 max threads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4709160"/>
            <a:ext cx="2743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677380"/>
                </a:solidFill>
                <a:latin typeface="Aptos"/>
              </a:rPr>
              <a:t>Queue capacity: 50 tasks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2441448"/>
            <a:ext cx="0" cy="301752"/>
          </a:xfrm>
          <a:prstGeom prst="line">
            <a:avLst/>
          </a:prstGeom>
          <a:ln w="2540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337560" y="3749039"/>
            <a:ext cx="2743200" cy="411481"/>
          </a:xfrm>
          <a:prstGeom prst="line">
            <a:avLst/>
          </a:prstGeom>
          <a:ln w="2540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80760" y="3749039"/>
            <a:ext cx="2651760" cy="411481"/>
          </a:xfrm>
          <a:prstGeom prst="line">
            <a:avLst/>
          </a:prstGeom>
          <a:ln w="2540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77380"/>
                </a:solidFill>
                <a:latin typeface="Aptos"/>
              </a:rPr>
              <a:t>Order Processing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6519672"/>
            <a:ext cx="2514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77380"/>
                </a:solidFill>
                <a:latin typeface="Aptos"/>
              </a:rPr>
              <a:t>Team TechNova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22F4D"/>
                </a:solidFill>
                <a:latin typeface="Aptos"/>
              </a:rPr>
              <a:t>Order Processing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515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77380"/>
                </a:solidFill>
                <a:latin typeface="Aptos"/>
              </a:rPr>
              <a:t>From order placement to completion or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38912"/>
            <a:ext cx="457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677380"/>
                </a:solidFill>
                <a:latin typeface="Aptos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34440"/>
            <a:ext cx="10972800" cy="0"/>
          </a:xfrm>
          <a:prstGeom prst="line">
            <a:avLst/>
          </a:prstGeom>
          <a:ln w="1270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94360" y="1874519"/>
            <a:ext cx="548640" cy="548640"/>
          </a:xfrm>
          <a:prstGeom prst="ellipse">
            <a:avLst/>
          </a:prstGeom>
          <a:solidFill>
            <a:srgbClr val="256391"/>
          </a:solidFill>
          <a:ln>
            <a:solidFill>
              <a:srgbClr val="256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02536"/>
            <a:ext cx="5486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260604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122F4D"/>
                </a:solidFill>
                <a:latin typeface="Aptos"/>
              </a:rPr>
              <a:t>Place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71800"/>
            <a:ext cx="196596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0">
                <a:solidFill>
                  <a:srgbClr val="677380"/>
                </a:solidFill>
                <a:latin typeface="Aptos"/>
              </a:rPr>
              <a:t>POST /api/orders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61288" y="2148840"/>
            <a:ext cx="1609344" cy="0"/>
          </a:xfrm>
          <a:prstGeom prst="line">
            <a:avLst/>
          </a:prstGeom>
          <a:ln w="2540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862072" y="1874519"/>
            <a:ext cx="548640" cy="548640"/>
          </a:xfrm>
          <a:prstGeom prst="ellipse">
            <a:avLst/>
          </a:prstGeom>
          <a:solidFill>
            <a:srgbClr val="122F4D"/>
          </a:solidFill>
          <a:ln>
            <a:solidFill>
              <a:srgbClr val="122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2072" y="2002536"/>
            <a:ext cx="5486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79" y="260604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122F4D"/>
                </a:solidFill>
                <a:latin typeface="Aptos"/>
              </a:rPr>
              <a:t>Pending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2971800"/>
            <a:ext cx="196596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0">
                <a:solidFill>
                  <a:srgbClr val="677380"/>
                </a:solidFill>
                <a:latin typeface="Aptos"/>
              </a:rPr>
              <a:t>Saved immediately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29000" y="2148840"/>
            <a:ext cx="1609344" cy="0"/>
          </a:xfrm>
          <a:prstGeom prst="line">
            <a:avLst/>
          </a:prstGeom>
          <a:ln w="2540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129784" y="1874519"/>
            <a:ext cx="548640" cy="548640"/>
          </a:xfrm>
          <a:prstGeom prst="ellipse">
            <a:avLst/>
          </a:prstGeom>
          <a:solidFill>
            <a:srgbClr val="2A8B81"/>
          </a:solidFill>
          <a:ln>
            <a:solidFill>
              <a:srgbClr val="2A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9784" y="2002536"/>
            <a:ext cx="5486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65192" y="260604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122F4D"/>
                </a:solidFill>
                <a:latin typeface="Aptos"/>
              </a:rPr>
              <a:t>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1184" y="2971800"/>
            <a:ext cx="196596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0">
                <a:solidFill>
                  <a:srgbClr val="677380"/>
                </a:solidFill>
                <a:latin typeface="Aptos"/>
              </a:rPr>
              <a:t>Background thread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96712" y="2148840"/>
            <a:ext cx="1609344" cy="0"/>
          </a:xfrm>
          <a:prstGeom prst="line">
            <a:avLst/>
          </a:prstGeom>
          <a:ln w="2540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397496" y="1874519"/>
            <a:ext cx="548640" cy="548640"/>
          </a:xfrm>
          <a:prstGeom prst="ellipse">
            <a:avLst/>
          </a:prstGeom>
          <a:solidFill>
            <a:srgbClr val="419B66"/>
          </a:solidFill>
          <a:ln>
            <a:solidFill>
              <a:srgbClr val="419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97496" y="2002536"/>
            <a:ext cx="5486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2904" y="260604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122F4D"/>
                </a:solidFill>
                <a:latin typeface="Aptos"/>
              </a:rPr>
              <a:t>Reserve Stock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68896" y="2971800"/>
            <a:ext cx="196596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0">
                <a:solidFill>
                  <a:srgbClr val="677380"/>
                </a:solidFill>
                <a:latin typeface="Aptos"/>
              </a:rPr>
              <a:t>Pessimistic lock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964423" y="2148840"/>
            <a:ext cx="1609344" cy="0"/>
          </a:xfrm>
          <a:prstGeom prst="line">
            <a:avLst/>
          </a:prstGeom>
          <a:ln w="2540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665208" y="1874519"/>
            <a:ext cx="548640" cy="548640"/>
          </a:xfrm>
          <a:prstGeom prst="ellipse">
            <a:avLst/>
          </a:prstGeom>
          <a:solidFill>
            <a:srgbClr val="419B66"/>
          </a:solidFill>
          <a:ln>
            <a:solidFill>
              <a:srgbClr val="419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65208" y="2002536"/>
            <a:ext cx="5486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0616" y="260604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122F4D"/>
                </a:solidFill>
                <a:latin typeface="Aptos"/>
              </a:rPr>
              <a:t>Complete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6608" y="2971800"/>
            <a:ext cx="196596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0">
                <a:solidFill>
                  <a:srgbClr val="677380"/>
                </a:solidFill>
                <a:latin typeface="Aptos"/>
              </a:rPr>
              <a:t>Update + notify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28800" y="4160520"/>
            <a:ext cx="8503920" cy="123444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F5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48840" y="4370832"/>
            <a:ext cx="23774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C44D52"/>
                </a:solidFill>
                <a:latin typeface="Aptos"/>
              </a:rPr>
              <a:t>If stock reservation fails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325112"/>
            <a:ext cx="57150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50" b="0">
                <a:solidFill>
                  <a:srgbClr val="27303A"/>
                </a:solidFill>
                <a:latin typeface="Aptos"/>
              </a:rPr>
              <a:t>Retry → retry count increases → after 3 failed attempts → Dead-Letter Queue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48840" y="4800600"/>
            <a:ext cx="80467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677380"/>
                </a:solidFill>
                <a:latin typeface="Aptos"/>
              </a:rPr>
              <a:t>A DLQ item can be re-processed as a new order after inventory is restored.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77380"/>
                </a:solidFill>
                <a:latin typeface="Aptos"/>
              </a:rPr>
              <a:t>Order Processing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6519672"/>
            <a:ext cx="2514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77380"/>
                </a:solidFill>
                <a:latin typeface="Aptos"/>
              </a:rPr>
              <a:t>Team TechNova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22F4D"/>
                </a:solidFill>
                <a:latin typeface="Aptos"/>
              </a:rP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515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77380"/>
                </a:solidFill>
                <a:latin typeface="Aptos"/>
              </a:rPr>
              <a:t>Main functions implemented in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38912"/>
            <a:ext cx="457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677380"/>
                </a:solidFill>
                <a:latin typeface="Aptos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34440"/>
            <a:ext cx="10972800" cy="0"/>
          </a:xfrm>
          <a:prstGeom prst="line">
            <a:avLst/>
          </a:prstGeom>
          <a:ln w="1270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600200"/>
            <a:ext cx="52578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6968" y="1856232"/>
            <a:ext cx="347472" cy="347472"/>
          </a:xfrm>
          <a:prstGeom prst="ellipse">
            <a:avLst/>
          </a:prstGeom>
          <a:solidFill>
            <a:srgbClr val="256391"/>
          </a:solidFill>
          <a:ln>
            <a:solidFill>
              <a:srgbClr val="256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764792"/>
            <a:ext cx="41605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50" b="1">
                <a:solidFill>
                  <a:srgbClr val="122F4D"/>
                </a:solidFill>
                <a:latin typeface="Aptos"/>
              </a:rPr>
              <a:t>Concurrent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2103120"/>
            <a:ext cx="420624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677380"/>
                </a:solidFill>
                <a:latin typeface="Aptos"/>
              </a:rPr>
              <a:t>Orders are dispatched to a Spring ThreadPoolTaskExecutor so processing can happen in parallel.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00200"/>
            <a:ext cx="52578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10528" y="1856232"/>
            <a:ext cx="347472" cy="347472"/>
          </a:xfrm>
          <a:prstGeom prst="ellipse">
            <a:avLst/>
          </a:prstGeom>
          <a:solidFill>
            <a:srgbClr val="419B66"/>
          </a:solidFill>
          <a:ln>
            <a:solidFill>
              <a:srgbClr val="419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22592" y="1764792"/>
            <a:ext cx="41605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50" b="1">
                <a:solidFill>
                  <a:srgbClr val="122F4D"/>
                </a:solidFill>
                <a:latin typeface="Aptos"/>
              </a:rPr>
              <a:t>Inventory protection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2592" y="2103120"/>
            <a:ext cx="420624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677380"/>
                </a:solidFill>
                <a:latin typeface="Aptos"/>
              </a:rPr>
              <a:t>Pessimistic row locking prevents concurrent orders from using stale stock values.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81528"/>
            <a:ext cx="52578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6968" y="3337560"/>
            <a:ext cx="347472" cy="347472"/>
          </a:xfrm>
          <a:prstGeom prst="ellipse">
            <a:avLst/>
          </a:prstGeom>
          <a:solidFill>
            <a:srgbClr val="DE9E37"/>
          </a:solidFill>
          <a:ln>
            <a:solidFill>
              <a:srgbClr val="DE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99032" y="3246120"/>
            <a:ext cx="41605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50" b="1">
                <a:solidFill>
                  <a:srgbClr val="122F4D"/>
                </a:solidFill>
                <a:latin typeface="Aptos"/>
              </a:rPr>
              <a:t>Retry handling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9032" y="3584448"/>
            <a:ext cx="420624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677380"/>
                </a:solidFill>
                <a:latin typeface="Aptos"/>
              </a:rPr>
              <a:t>Failed orders return to PENDING and are retried with a maximum of 3 attempts.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081528"/>
            <a:ext cx="52578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10528" y="3337560"/>
            <a:ext cx="347472" cy="347472"/>
          </a:xfrm>
          <a:prstGeom prst="ellipse">
            <a:avLst/>
          </a:prstGeom>
          <a:solidFill>
            <a:srgbClr val="C44D52"/>
          </a:solidFill>
          <a:ln>
            <a:solidFill>
              <a:srgbClr val="C4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22592" y="3246120"/>
            <a:ext cx="41605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50" b="1">
                <a:solidFill>
                  <a:srgbClr val="122F4D"/>
                </a:solidFill>
                <a:latin typeface="Aptos"/>
              </a:rPr>
              <a:t>Dead-Letter Queue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2592" y="3584448"/>
            <a:ext cx="420624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677380"/>
                </a:solidFill>
                <a:latin typeface="Aptos"/>
              </a:rPr>
              <a:t>Orders that exhaust retries are stored with the failure reason and retry count.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562856"/>
            <a:ext cx="52578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6968" y="4818888"/>
            <a:ext cx="347472" cy="347472"/>
          </a:xfrm>
          <a:prstGeom prst="ellipse">
            <a:avLst/>
          </a:prstGeom>
          <a:solidFill>
            <a:srgbClr val="2A8B81"/>
          </a:solidFill>
          <a:ln>
            <a:solidFill>
              <a:srgbClr val="2A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99032" y="4727448"/>
            <a:ext cx="41605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50" b="1">
                <a:solidFill>
                  <a:srgbClr val="122F4D"/>
                </a:solidFill>
                <a:latin typeface="Aptos"/>
              </a:rPr>
              <a:t>Live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5065776"/>
            <a:ext cx="420624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677380"/>
                </a:solidFill>
                <a:latin typeface="Aptos"/>
              </a:rPr>
              <a:t>STOMP/WebSocket updates keep order, inventory and statistics views current.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562856"/>
            <a:ext cx="52578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10528" y="4818888"/>
            <a:ext cx="347472" cy="347472"/>
          </a:xfrm>
          <a:prstGeom prst="ellipse">
            <a:avLst/>
          </a:prstGeom>
          <a:solidFill>
            <a:srgbClr val="122F4D"/>
          </a:solidFill>
          <a:ln>
            <a:solidFill>
              <a:srgbClr val="122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22592" y="4727448"/>
            <a:ext cx="41605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50" b="1">
                <a:solidFill>
                  <a:srgbClr val="122F4D"/>
                </a:solidFill>
                <a:latin typeface="Aptos"/>
              </a:rPr>
              <a:t>Restocking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2" y="5065776"/>
            <a:ext cx="420624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677380"/>
                </a:solidFill>
                <a:latin typeface="Aptos"/>
              </a:rPr>
              <a:t>The dashboard can add 50 units to an inventory item with one action.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77380"/>
                </a:solidFill>
                <a:latin typeface="Aptos"/>
              </a:rPr>
              <a:t>Order Processing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6519672"/>
            <a:ext cx="2514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77380"/>
                </a:solidFill>
                <a:latin typeface="Aptos"/>
              </a:rPr>
              <a:t>Team TechNova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22F4D"/>
                </a:solidFill>
                <a:latin typeface="Aptos"/>
              </a:rPr>
              <a:t>Dashboard &amp; User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515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77380"/>
                </a:solidFill>
                <a:latin typeface="Aptos"/>
              </a:rPr>
              <a:t>Simple view of the main screens and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38912"/>
            <a:ext cx="457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677380"/>
                </a:solidFill>
                <a:latin typeface="Aptos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34440"/>
            <a:ext cx="10972800" cy="0"/>
          </a:xfrm>
          <a:prstGeom prst="line">
            <a:avLst/>
          </a:prstGeom>
          <a:ln w="1270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572768"/>
            <a:ext cx="6537960" cy="452628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2743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122F4D"/>
                </a:solidFill>
                <a:latin typeface="Aptos"/>
              </a:rPr>
              <a:t>Operations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40280"/>
            <a:ext cx="1325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59152"/>
            <a:ext cx="11430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77380"/>
                </a:solidFill>
                <a:latin typeface="Aptos"/>
              </a:rPr>
              <a:t>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1430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256391"/>
                </a:solidFill>
                <a:latin typeface="Aptos"/>
              </a:rPr>
              <a:t>128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95728" y="2240280"/>
            <a:ext cx="1325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87168" y="2359152"/>
            <a:ext cx="11430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77380"/>
                </a:solidFill>
                <a:latin typeface="Aptos"/>
              </a:rPr>
              <a:t>Pending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2560320"/>
            <a:ext cx="11430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DE9E37"/>
                </a:solidFill>
                <a:latin typeface="Aptos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77056" y="2240280"/>
            <a:ext cx="1325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68496" y="2359152"/>
            <a:ext cx="11430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77380"/>
                </a:solidFill>
                <a:latin typeface="Aptos"/>
              </a:rPr>
              <a:t>Completed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8496" y="2560320"/>
            <a:ext cx="11430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419B66"/>
                </a:solidFill>
                <a:latin typeface="Aptos"/>
              </a:rPr>
              <a:t>112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58384" y="2240280"/>
            <a:ext cx="1325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9824" y="2359152"/>
            <a:ext cx="11430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77380"/>
                </a:solidFill>
                <a:latin typeface="Aptos"/>
              </a:rPr>
              <a:t>Failed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9824" y="2560320"/>
            <a:ext cx="11430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C44D52"/>
                </a:solidFill>
                <a:latin typeface="Aptos"/>
              </a:rPr>
              <a:t>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246120"/>
            <a:ext cx="59893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429000"/>
            <a:ext cx="1463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677380"/>
                </a:solidFill>
                <a:latin typeface="Aptos"/>
              </a:rPr>
              <a:t>ORDER STREAM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767328"/>
            <a:ext cx="86868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1">
                <a:solidFill>
                  <a:srgbClr val="677380"/>
                </a:solidFill>
                <a:latin typeface="Aptos"/>
              </a:rPr>
              <a:t>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76272" y="3767328"/>
            <a:ext cx="86868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1">
                <a:solidFill>
                  <a:srgbClr val="677380"/>
                </a:solidFill>
                <a:latin typeface="Aptos"/>
              </a:rPr>
              <a:t>Product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55263" y="3767328"/>
            <a:ext cx="86868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1">
                <a:solidFill>
                  <a:srgbClr val="677380"/>
                </a:solidFill>
                <a:latin typeface="Aptos"/>
              </a:rPr>
              <a:t>Qty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4256" y="3767328"/>
            <a:ext cx="86868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1">
                <a:solidFill>
                  <a:srgbClr val="677380"/>
                </a:solidFill>
                <a:latin typeface="Aptos"/>
              </a:rPr>
              <a:t>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3248" y="3767328"/>
            <a:ext cx="86868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1">
                <a:solidFill>
                  <a:srgbClr val="677380"/>
                </a:solidFill>
                <a:latin typeface="Aptos"/>
              </a:rPr>
              <a:t>Retry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069080"/>
            <a:ext cx="9601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27303A"/>
                </a:solidFill>
                <a:latin typeface="Aptos"/>
              </a:rPr>
              <a:t>#104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76272" y="4069080"/>
            <a:ext cx="9601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27303A"/>
                </a:solidFill>
                <a:latin typeface="Aptos"/>
              </a:rPr>
              <a:t>Laptop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55263" y="4069080"/>
            <a:ext cx="9601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27303A"/>
                </a:solidFill>
                <a:latin typeface="Apto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34256" y="4069080"/>
            <a:ext cx="9601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419B66"/>
                </a:solidFill>
                <a:latin typeface="Aptos"/>
              </a:rPr>
              <a:t>COMPLETED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13248" y="4069080"/>
            <a:ext cx="9601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0">
                <a:solidFill>
                  <a:srgbClr val="27303A"/>
                </a:solidFill>
                <a:latin typeface="Aptos"/>
              </a:rPr>
              <a:t>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4709160"/>
            <a:ext cx="59893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4919472"/>
            <a:ext cx="18288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677380"/>
                </a:solidFill>
                <a:latin typeface="Aptos"/>
              </a:rPr>
              <a:t>CURRENT INVENTORY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239512"/>
            <a:ext cx="11430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27303A"/>
                </a:solidFill>
                <a:latin typeface="Aptos"/>
              </a:rPr>
              <a:t>Keyboard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239512"/>
            <a:ext cx="5029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2A8B81"/>
                </a:solidFill>
                <a:latin typeface="Aptos"/>
              </a:rPr>
              <a:t>180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5239512"/>
            <a:ext cx="11430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27303A"/>
                </a:solidFill>
                <a:latin typeface="Aptos"/>
              </a:rPr>
              <a:t>Mouse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86200" y="5239512"/>
            <a:ext cx="5029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2A8B81"/>
                </a:solidFill>
                <a:latin typeface="Aptos"/>
              </a:rPr>
              <a:t>95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5239512"/>
            <a:ext cx="11430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27303A"/>
                </a:solidFill>
                <a:latin typeface="Aptos"/>
              </a:rPr>
              <a:t>Monitor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000" y="5239512"/>
            <a:ext cx="5029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2A8B81"/>
                </a:solidFill>
                <a:latin typeface="Aptos"/>
              </a:rPr>
              <a:t>22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43800" y="1572768"/>
            <a:ext cx="3977639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120" y="1847088"/>
            <a:ext cx="25603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900" b="1">
                <a:solidFill>
                  <a:srgbClr val="122F4D"/>
                </a:solidFill>
                <a:latin typeface="Aptos"/>
              </a:rPr>
              <a:t>Typical user flow</a:t>
            </a:r>
          </a:p>
        </p:txBody>
      </p:sp>
      <p:sp>
        <p:nvSpPr>
          <p:cNvPr id="42" name="Oval 41"/>
          <p:cNvSpPr/>
          <p:nvPr/>
        </p:nvSpPr>
        <p:spPr>
          <a:xfrm>
            <a:off x="7845552" y="2487168"/>
            <a:ext cx="347472" cy="347472"/>
          </a:xfrm>
          <a:prstGeom prst="ellipse">
            <a:avLst/>
          </a:prstGeom>
          <a:solidFill>
            <a:srgbClr val="2A8B81"/>
          </a:solidFill>
          <a:ln>
            <a:solidFill>
              <a:srgbClr val="2A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45552" y="2560320"/>
            <a:ext cx="347472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9327" y="2505456"/>
            <a:ext cx="2697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27303A"/>
                </a:solidFill>
                <a:latin typeface="Aptos"/>
              </a:rPr>
              <a:t>Select product + quantity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019288" y="2834640"/>
            <a:ext cx="0" cy="274320"/>
          </a:xfrm>
          <a:prstGeom prst="line">
            <a:avLst/>
          </a:prstGeom>
          <a:ln w="1905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7845552" y="3108960"/>
            <a:ext cx="347472" cy="347472"/>
          </a:xfrm>
          <a:prstGeom prst="ellipse">
            <a:avLst/>
          </a:prstGeom>
          <a:solidFill>
            <a:srgbClr val="2A8B81"/>
          </a:solidFill>
          <a:ln>
            <a:solidFill>
              <a:srgbClr val="2A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45552" y="3182112"/>
            <a:ext cx="347472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39327" y="3127248"/>
            <a:ext cx="2697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27303A"/>
                </a:solidFill>
                <a:latin typeface="Aptos"/>
              </a:rPr>
              <a:t>Click Place Order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019288" y="3456432"/>
            <a:ext cx="0" cy="274320"/>
          </a:xfrm>
          <a:prstGeom prst="line">
            <a:avLst/>
          </a:prstGeom>
          <a:ln w="1905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45552" y="3730752"/>
            <a:ext cx="347472" cy="347472"/>
          </a:xfrm>
          <a:prstGeom prst="ellipse">
            <a:avLst/>
          </a:prstGeom>
          <a:solidFill>
            <a:srgbClr val="2A8B81"/>
          </a:solidFill>
          <a:ln>
            <a:solidFill>
              <a:srgbClr val="2A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45552" y="3803904"/>
            <a:ext cx="347472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9327" y="3749039"/>
            <a:ext cx="2697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27303A"/>
                </a:solidFill>
                <a:latin typeface="Aptos"/>
              </a:rPr>
              <a:t>Watch status change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019288" y="4078224"/>
            <a:ext cx="0" cy="274320"/>
          </a:xfrm>
          <a:prstGeom prst="line">
            <a:avLst/>
          </a:prstGeom>
          <a:ln w="1905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7845552" y="4352544"/>
            <a:ext cx="347472" cy="347472"/>
          </a:xfrm>
          <a:prstGeom prst="ellipse">
            <a:avLst/>
          </a:prstGeom>
          <a:solidFill>
            <a:srgbClr val="2A8B81"/>
          </a:solidFill>
          <a:ln>
            <a:solidFill>
              <a:srgbClr val="2A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45552" y="4425696"/>
            <a:ext cx="347472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39327" y="4370831"/>
            <a:ext cx="2697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27303A"/>
                </a:solidFill>
                <a:latin typeface="Aptos"/>
              </a:rPr>
              <a:t>Inventory updates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019288" y="4700016"/>
            <a:ext cx="0" cy="274320"/>
          </a:xfrm>
          <a:prstGeom prst="line">
            <a:avLst/>
          </a:prstGeom>
          <a:ln w="1905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7845552" y="4974336"/>
            <a:ext cx="347472" cy="347472"/>
          </a:xfrm>
          <a:prstGeom prst="ellipse">
            <a:avLst/>
          </a:prstGeom>
          <a:solidFill>
            <a:srgbClr val="2A8B81"/>
          </a:solidFill>
          <a:ln>
            <a:solidFill>
              <a:srgbClr val="2A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45552" y="5047488"/>
            <a:ext cx="347472" cy="146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39327" y="4992624"/>
            <a:ext cx="2697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27303A"/>
                </a:solidFill>
                <a:latin typeface="Aptos"/>
              </a:rPr>
              <a:t>Review failed orders in DLQ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77380"/>
                </a:solidFill>
                <a:latin typeface="Aptos"/>
              </a:rPr>
              <a:t>Order Processing System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0" y="6519672"/>
            <a:ext cx="2514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77380"/>
                </a:solidFill>
                <a:latin typeface="Aptos"/>
              </a:rPr>
              <a:t>Team TechNova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22F4D"/>
                </a:solidFill>
                <a:latin typeface="Aptos"/>
              </a:rPr>
              <a:t>Team TechNova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515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77380"/>
                </a:solidFill>
                <a:latin typeface="Aptos"/>
              </a:rPr>
              <a:t>Project team and member 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38912"/>
            <a:ext cx="457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677380"/>
                </a:solidFill>
                <a:latin typeface="Aptos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34440"/>
            <a:ext cx="10972800" cy="0"/>
          </a:xfrm>
          <a:prstGeom prst="line">
            <a:avLst/>
          </a:prstGeom>
          <a:ln w="1270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572768"/>
            <a:ext cx="3886200" cy="452628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22F4D"/>
                </a:solidFill>
                <a:latin typeface="Aptos"/>
              </a:rPr>
              <a:t>Team formation</a:t>
            </a:r>
          </a:p>
        </p:txBody>
      </p:sp>
      <p:pic>
        <p:nvPicPr>
          <p:cNvPr id="8" name="Picture 7" descr="30d82801-78a6-4b3d-ab08-09cea0197b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240280"/>
            <a:ext cx="3337560" cy="3429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92040" y="1810512"/>
            <a:ext cx="1463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22F4D"/>
                </a:solidFill>
                <a:latin typeface="Aptos"/>
              </a:rPr>
              <a:t>Members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2304288"/>
            <a:ext cx="63550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02352" y="2414016"/>
            <a:ext cx="301752" cy="301752"/>
          </a:xfrm>
          <a:prstGeom prst="ellipse">
            <a:avLst/>
          </a:prstGeom>
          <a:solidFill>
            <a:srgbClr val="DE9E37"/>
          </a:solidFill>
          <a:ln>
            <a:solidFill>
              <a:srgbClr val="DE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2395728"/>
            <a:ext cx="33832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27303A"/>
                </a:solidFill>
                <a:latin typeface="Aptos"/>
              </a:rPr>
              <a:t>Vyshnavi Mekapati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395728"/>
            <a:ext cx="14173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677380"/>
                </a:solidFill>
                <a:latin typeface="Aptos"/>
              </a:rPr>
              <a:t>HFS2609488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2395728"/>
            <a:ext cx="6858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50" b="1">
                <a:solidFill>
                  <a:srgbClr val="DE9E37"/>
                </a:solidFill>
                <a:latin typeface="Aptos"/>
              </a:rPr>
              <a:t>Leader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2962656"/>
            <a:ext cx="63550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02352" y="3072384"/>
            <a:ext cx="301752" cy="301752"/>
          </a:xfrm>
          <a:prstGeom prst="ellipse">
            <a:avLst/>
          </a:prstGeom>
          <a:solidFill>
            <a:srgbClr val="419B66"/>
          </a:solidFill>
          <a:ln>
            <a:solidFill>
              <a:srgbClr val="419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0" y="3054096"/>
            <a:ext cx="33832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27303A"/>
                </a:solidFill>
                <a:latin typeface="Aptos"/>
              </a:rPr>
              <a:t>Puvvada Balaji Gupta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3054096"/>
            <a:ext cx="14173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677380"/>
                </a:solidFill>
                <a:latin typeface="Aptos"/>
              </a:rPr>
              <a:t>HFS2609372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3054096"/>
            <a:ext cx="6858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50" b="1">
                <a:solidFill>
                  <a:srgbClr val="419B66"/>
                </a:solidFill>
                <a:latin typeface="Aptos"/>
              </a:rPr>
              <a:t>Member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2040" y="3621024"/>
            <a:ext cx="63550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02352" y="3730752"/>
            <a:ext cx="301752" cy="301752"/>
          </a:xfrm>
          <a:prstGeom prst="ellipse">
            <a:avLst/>
          </a:prstGeom>
          <a:solidFill>
            <a:srgbClr val="419B66"/>
          </a:solidFill>
          <a:ln>
            <a:solidFill>
              <a:srgbClr val="419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32120" y="3712463"/>
            <a:ext cx="33832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27303A"/>
                </a:solidFill>
                <a:latin typeface="Aptos"/>
              </a:rPr>
              <a:t>Kushal Kumar Reddy Lingala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3712463"/>
            <a:ext cx="14173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677380"/>
                </a:solidFill>
                <a:latin typeface="Aptos"/>
              </a:rPr>
              <a:t>HFS2609734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3712463"/>
            <a:ext cx="6858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50" b="1">
                <a:solidFill>
                  <a:srgbClr val="419B66"/>
                </a:solidFill>
                <a:latin typeface="Aptos"/>
              </a:rPr>
              <a:t>Member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92040" y="4279392"/>
            <a:ext cx="63550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02352" y="4389120"/>
            <a:ext cx="301752" cy="301752"/>
          </a:xfrm>
          <a:prstGeom prst="ellipse">
            <a:avLst/>
          </a:prstGeom>
          <a:solidFill>
            <a:srgbClr val="419B66"/>
          </a:solidFill>
          <a:ln>
            <a:solidFill>
              <a:srgbClr val="419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32120" y="4370831"/>
            <a:ext cx="33832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27303A"/>
                </a:solidFill>
                <a:latin typeface="Aptos"/>
              </a:rPr>
              <a:t>Marisetti Teja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4370831"/>
            <a:ext cx="14173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677380"/>
                </a:solidFill>
                <a:latin typeface="Aptos"/>
              </a:rPr>
              <a:t>HFS2609424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4370831"/>
            <a:ext cx="6858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50" b="1">
                <a:solidFill>
                  <a:srgbClr val="419B66"/>
                </a:solidFill>
                <a:latin typeface="Aptos"/>
              </a:rPr>
              <a:t>Member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92040" y="4937760"/>
            <a:ext cx="63550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02352" y="5047488"/>
            <a:ext cx="301752" cy="301752"/>
          </a:xfrm>
          <a:prstGeom prst="ellipse">
            <a:avLst/>
          </a:prstGeom>
          <a:solidFill>
            <a:srgbClr val="419B66"/>
          </a:solidFill>
          <a:ln>
            <a:solidFill>
              <a:srgbClr val="419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32120" y="5029200"/>
            <a:ext cx="33832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27303A"/>
                </a:solidFill>
                <a:latin typeface="Aptos"/>
              </a:rPr>
              <a:t>Manne Srinija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5029200"/>
            <a:ext cx="14173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677380"/>
                </a:solidFill>
                <a:latin typeface="Aptos"/>
              </a:rPr>
              <a:t>HFS2609414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5029200"/>
            <a:ext cx="6858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50" b="1">
                <a:solidFill>
                  <a:srgbClr val="419B66"/>
                </a:solidFill>
                <a:latin typeface="Aptos"/>
              </a:rPr>
              <a:t>Member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5806440"/>
            <a:ext cx="31089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A8B81"/>
                </a:solidFill>
                <a:latin typeface="Aptos"/>
              </a:rPr>
              <a:t>5 / 5 members • Team complete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77380"/>
                </a:solidFill>
                <a:latin typeface="Aptos"/>
              </a:rPr>
              <a:t>Order Processing System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6519672"/>
            <a:ext cx="25146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0">
                <a:solidFill>
                  <a:srgbClr val="677380"/>
                </a:solidFill>
                <a:latin typeface="Aptos"/>
              </a:rPr>
              <a:t>Team TechNova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Order Processing System - Project Presentation</dc:title>
  <dc:subject>Team TechNova project presentation</dc:subject>
  <dc:creator>Team TechNova</dc:creator>
  <cp:keywords>Order Processing, Spring Boot, React, PostgreSQL, WebSocket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